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5" r:id="rId2"/>
    <p:sldId id="266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9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0" y="9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58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foundation: every other PHP file includes db.php to get $conn. Mention .env keeps the password secret.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real DDL (Data Definition Language). Point out PK, the data types, ENUM, DEFAULT, and UNIQUE.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back to the ERD. Note RESTRICT vs CASCADE: plans use RESTRICT (can't delete a plan in use).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Indexes = speed. Connect to the reports in Part 4: those SUM/GROUP BY queries are fast because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4 callouts on the slide: guard SELECT, the decision, the INSERT, and the bound parameter (:id).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CODE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we connect: db.php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657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8F0FE"/>
                </a:solidFill>
                <a:latin typeface="Calibri"/>
              </a:rPr>
              <a:t>Backend/db.php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400800" cy="493776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00" cy="384048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B98A8"/>
                </a:solidFill>
                <a:latin typeface="Calibri"/>
              </a:rPr>
              <a:t>● ● ●   backend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6080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1">
                <a:solidFill>
                  <a:srgbClr val="7EE787"/>
                </a:solidFill>
                <a:latin typeface="Consolas"/>
              </a:rPr>
              <a:t>// Load secret credentials from .env (not in code)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$host = $env['DB_HOST'];  $dbname = $env['DB_NAME'];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$user = $env['DB_USER'];  $pass   = $env['DB_PASS'];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1">
                <a:solidFill>
                  <a:srgbClr val="7EE787"/>
                </a:solidFill>
                <a:latin typeface="Consolas"/>
              </a:rPr>
              <a:t>// Open ONE connection through PDO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$conn = new PDO(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"mysql:host=$host;dbname=$dbname;charset=utf8mb4",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$user, $pass,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[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PDO::ATTR_ERRMODE =&gt; PDO::ERRMODE_EXCEPTION,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PDO::ATTR_TIMEOUT =&gt; 5,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]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$conn-&gt;exec("SET time_zone = '+08:00'"); // PH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Ano'ng nangyayari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103120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2103120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12848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WHERE: credentials load from a separate .env file — never hard-coded, so passwords stay out of the source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145536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0" y="3145536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40156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55264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HOW: PDO opens one connection; charset=utf8mb4 lets it store the peso sign and dash correctly.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187952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0" y="4187952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4443984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97680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ERRMODE_EXCEPTION: database errors are thrown and caught, never failing silently.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5230368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0" y="5230368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548640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40096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Time zone is set to +08:00 so every saved date matches Philippine time.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6382512"/>
            <a:ext cx="2542032" cy="3840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89720" y="6382512"/>
            <a:ext cx="9144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6400800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6672"/>
                </a:solidFill>
                <a:latin typeface="Calibri"/>
              </a:rPr>
              <a:t>Presenter:  </a:t>
            </a:r>
            <a:r>
              <a:rPr sz="1100" b="1" i="0">
                <a:solidFill>
                  <a:srgbClr val="0B1F3A"/>
                </a:solidFill>
                <a:latin typeface="Calibri"/>
              </a:rPr>
              <a:t>Marco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CODE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Schema design: the members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657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8F0FE"/>
                </a:solidFill>
                <a:latin typeface="Calibri"/>
              </a:rPr>
              <a:t>members table (schema)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400800" cy="493776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00" cy="384048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B98A8"/>
                </a:solidFill>
                <a:latin typeface="Calibri"/>
              </a:rPr>
              <a:t>● ● ●   backend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6080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CREATE TABLE members 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member_id   INT PRIMARY KEY AUTO_INCREMENT,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full_name   VARCHAR(50) NOT NULL,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contact_number VARCHAR(20),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age         TINYINT UNSIGNED,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gender      ENUM('Male','Female','Other'),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contract_id VARCHAR(50) UNIQUE,    -- FS-000001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plan_id     INT,                   -- FK -&gt; plans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start_date      DATE,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expiration_date DATE,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is_installment    TINYINT(1) DEFAULT 0,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installment_total DECIMAL(10,2) DEFAULT 0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) ENGINE=InnoDB;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Ano'ng nangyayari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103120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2103120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12848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PRIMARY KEY + AUTO_INCREMENT: a unique member_id is generated automatically for every new member.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145536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0" y="3145536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40156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55264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Each column uses the correct data type — VARCHAR (text), TINYINT/INT (numbers), DATE, DECIMAL (money).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187952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0" y="4187952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4443984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97680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ENUM('Male','Female','Other'): the database only accepts these exact values, so no invalid data gets 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5230368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0" y="5230368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548640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40096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UNIQUE on contract_id: the DB itself blocks two members from sharing the same FS number.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6382512"/>
            <a:ext cx="2542032" cy="3840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89720" y="6382512"/>
            <a:ext cx="9144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6400800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6672"/>
                </a:solidFill>
                <a:latin typeface="Calibri"/>
              </a:rPr>
              <a:t>Presenter:  </a:t>
            </a:r>
            <a:r>
              <a:rPr sz="1100" b="1" i="0">
                <a:solidFill>
                  <a:srgbClr val="0B1F3A"/>
                </a:solidFill>
                <a:latin typeface="Calibri"/>
              </a:rPr>
              <a:t>Marco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CODE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Data integrity: keys &amp;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657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8F0FE"/>
                </a:solidFill>
                <a:latin typeface="Calibri"/>
              </a:rPr>
              <a:t>Foreign keys /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400800" cy="493776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00" cy="384048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B98A8"/>
                </a:solidFill>
                <a:latin typeface="Calibri"/>
              </a:rPr>
              <a:t>● ● ●   backend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6080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1">
                <a:solidFill>
                  <a:srgbClr val="7EE787"/>
                </a:solidFill>
                <a:latin typeface="Consolas"/>
              </a:rPr>
              <a:t>-- A member must belong to a real plan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ALTER TABLE members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ADD FOREIGN KEY (plan_id)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  REFERENCES plans(plan_id);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1">
                <a:solidFill>
                  <a:srgbClr val="7EE787"/>
                </a:solidFill>
                <a:latin typeface="Consolas"/>
              </a:rPr>
              <a:t>-- Delete a member -&gt; remove their child rows too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ALTER TABLE attendance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ADD FOREIGN KEY (member_id)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  REFERENCES members(member_id)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  ON DELETE CASCADE;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ALTER TABLE payments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ADD FOREIGN KEY (member_id)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  REFERENCES members(member_id)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  ON DELETE CASCADE;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Ano'ng nangyayari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103120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2103120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12848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A FOREIGN KEY links two tables and is enforced by the database itself, not by the app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145536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0" y="3145536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40156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55264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members.plan_id -&gt; plans: you cannot assign a member to a plan that does not exist.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187952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0" y="4187952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4443984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97680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ON DELETE CASCADE: deleting a member automatically deletes their attendance and payment rows.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5230368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0" y="5230368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548640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40096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This is integrity at the database level — the user interface cannot bypass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6382512"/>
            <a:ext cx="2542032" cy="3840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89720" y="6382512"/>
            <a:ext cx="9144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6400800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6672"/>
                </a:solidFill>
                <a:latin typeface="Calibri"/>
              </a:rPr>
              <a:t>Presenter:  </a:t>
            </a:r>
            <a:r>
              <a:rPr sz="1100" b="1" i="0">
                <a:solidFill>
                  <a:srgbClr val="0B1F3A"/>
                </a:solidFill>
                <a:latin typeface="Calibri"/>
              </a:rPr>
              <a:t>Marco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CODE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Performance: indexes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657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8F0FE"/>
                </a:solidFill>
                <a:latin typeface="Calibri"/>
              </a:rPr>
              <a:t>Indexes (performance)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400800" cy="493776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00" cy="384048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B98A8"/>
                </a:solidFill>
                <a:latin typeface="Calibri"/>
              </a:rPr>
              <a:t>● ● ●   backend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6080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ALTER TABLE payments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ADD INDEX idx_payment_date    (payment_date),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ADD INDEX idx_payments_member (member_id);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ALTER TABLE members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ADD INDEX idx_expiration_date (expiration_date),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ADD UNIQUE KEY (contract_id);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1">
                <a:solidFill>
                  <a:srgbClr val="7EE787"/>
                </a:solidFill>
                <a:latin typeface="Consolas"/>
              </a:rPr>
              <a:t>-- Attendance lookups by member and time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ALTER TABLE attendance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ADD INDEX idx_attendance_member (member_id),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ADD INDEX idx_time_in           (time_in);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Ano'ng nangyayari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103120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2103120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12848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An index is like a book index: the DB jumps straight to matching rows instead of reading the whole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145536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0" y="3145536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40156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55264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Without an index, every query does a full table scan — which gets slow as data grows.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187952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0" y="4187952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4443984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97680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We indexed the columns the reports filter by: payment_date, member_id, expiration_date.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5230368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0" y="5230368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548640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40096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A UNIQUE index also enforces a rule — no duplicate contract_id is ever allowed.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6382512"/>
            <a:ext cx="2542032" cy="3840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89720" y="6382512"/>
            <a:ext cx="9144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6400800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6672"/>
                </a:solidFill>
                <a:latin typeface="Calibri"/>
              </a:rPr>
              <a:t>Presenter:  </a:t>
            </a:r>
            <a:r>
              <a:rPr sz="1100" b="1" i="0">
                <a:solidFill>
                  <a:srgbClr val="0B1F3A"/>
                </a:solidFill>
                <a:latin typeface="Calibri"/>
              </a:rPr>
              <a:t>Marco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CODE LOGIC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Tracing the logic: time_in.php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657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8F0FE"/>
                </a:solidFill>
                <a:latin typeface="Calibri"/>
              </a:rPr>
              <a:t>Backend/time_in.php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400800" cy="4937760"/>
          </a:xfrm>
          <a:prstGeom prst="round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00" cy="384048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B98A8"/>
                </a:solidFill>
                <a:latin typeface="Calibri"/>
              </a:rPr>
              <a:t>● ● ●   backend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6080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1">
                <a:solidFill>
                  <a:srgbClr val="7EE787"/>
                </a:solidFill>
                <a:latin typeface="Consolas"/>
              </a:rPr>
              <a:t>// 1. Guard: already timed in today?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$check = $conn-&gt;prepare(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"SELECT log_id FROM attendance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WHERE member_id = :id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  AND DATE(time_in) = CURRENT_DATE()");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$check-&gt;execute([':id' =&gt; $member_id]);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if ($check-&gt;rowCount() &gt; 0)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1">
                <a:solidFill>
                  <a:srgbClr val="7EE787"/>
                </a:solidFill>
                <a:latin typeface="Consolas"/>
              </a:rPr>
              <a:t>    // 2. Yes -&gt; reject (no double entry)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echo '{"error":"Already timed in"}';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} else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1">
                <a:solidFill>
                  <a:srgbClr val="7EE787"/>
                </a:solidFill>
                <a:latin typeface="Consolas"/>
              </a:rPr>
              <a:t>    // 3. No -&gt; insert the record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$conn-&gt;prepare(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  "INSERT INTO attendance (member_id, time_in)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   VALUES (:id, NOW())")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 -&gt;execute([':id' =&gt; $member_id]);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echo '{"success":true}';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Ano'ng nangyayari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103120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2103120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12848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WHAT: records one gym visit for this member, dated today.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145536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0" y="3145536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40156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55264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HOW (guard): a SELECT first checks the attendance table for a row with this member_id dated today.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187952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0" y="4187952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4443984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97680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DECISION: if a row already exists -&gt; return an error; if none -&gt; run the INSERT.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5230368"/>
            <a:ext cx="4526280" cy="93268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0" y="5230368"/>
            <a:ext cx="502920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548640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40096"/>
            <a:ext cx="37947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WHERE: the new row goes into the attendance table; ':id' is a bound parameter, so it is safe from SQL injection.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6382512"/>
            <a:ext cx="2542032" cy="3840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89720" y="6382512"/>
            <a:ext cx="9144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6400800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6672"/>
                </a:solidFill>
                <a:latin typeface="Calibri"/>
              </a:rPr>
              <a:t>Presenter:  </a:t>
            </a:r>
            <a:r>
              <a:rPr sz="1100" b="1" i="0">
                <a:solidFill>
                  <a:srgbClr val="0B1F3A"/>
                </a:solidFill>
                <a:latin typeface="Calibri"/>
              </a:rPr>
              <a:t>Marco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1231</Words>
  <Application>Microsoft Office PowerPoint</Application>
  <PresentationFormat>Widescreen</PresentationFormat>
  <Paragraphs>147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Andrei R. Belen</cp:lastModifiedBy>
  <cp:revision>2</cp:revision>
  <dcterms:created xsi:type="dcterms:W3CDTF">2013-01-27T09:14:16Z</dcterms:created>
  <dcterms:modified xsi:type="dcterms:W3CDTF">2026-06-05T04:30:10Z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2026-06-05T04:30:10Z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547ae1e3-10e8-4687-ab47-776d9d72765c</vt:lpwstr>
  </property>
  <property fmtid="{D5CDD505-2E9C-101B-9397-08002B2CF9AE}" pid="8" name="MSIP_Label_8a813f4b-519a-4481-a498-85770f517757_ContentBits">
    <vt:lpwstr>0</vt:lpwstr>
  </property>
  <property fmtid="{D5CDD505-2E9C-101B-9397-08002B2CF9AE}" pid="9" name="MSIP_Label_8a813f4b-519a-4481-a498-85770f517757_Tag">
    <vt:lpwstr>10, 3, 0, 1</vt:lpwstr>
  </property>
</Properties>
</file>